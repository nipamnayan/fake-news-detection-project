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3"/>
  </p:notesMasterIdLst>
  <p:sldIdLst>
    <p:sldId id="256" r:id="rId2"/>
    <p:sldId id="257" r:id="rId3"/>
    <p:sldId id="258" r:id="rId4"/>
    <p:sldId id="259" r:id="rId5"/>
    <p:sldId id="260" r:id="rId6"/>
    <p:sldId id="261" r:id="rId7"/>
    <p:sldId id="263" r:id="rId8"/>
    <p:sldId id="264" r:id="rId9"/>
    <p:sldId id="265" r:id="rId10"/>
    <p:sldId id="266" r:id="rId11"/>
    <p:sldId id="267" r:id="rId12"/>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Gill Sans" panose="020B0604020202020204" charset="0"/>
      <p:regular r:id="rId18"/>
      <p:bold r:id="rId19"/>
    </p:embeddedFont>
    <p:embeddedFont>
      <p:font typeface="Trebuchet MS" panose="020B0603020202020204" pitchFamily="34" charset="0"/>
      <p:regular r:id="rId20"/>
      <p:bold r:id="rId21"/>
      <p:italic r:id="rId22"/>
      <p:boldItalic r:id="rId23"/>
    </p:embeddedFont>
    <p:embeddedFont>
      <p:font typeface="Wingdings 3" panose="05040102010807070707" pitchFamily="18" charset="2"/>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e08a6af04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e08a6af04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e08a6af04a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e08a6af04a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e08a6af04a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e08a6af04a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e08a6af04a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e08a6af04a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13721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81154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21368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05498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10056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93641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00676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35400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734901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7697322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5886929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4519541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7632642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965691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012673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069044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2"/>
        <p:cNvGrpSpPr/>
        <p:nvPr/>
      </p:nvGrpSpPr>
      <p:grpSpPr>
        <a:xfrm>
          <a:off x="0" y="0"/>
          <a:ext cx="0" cy="0"/>
          <a:chOff x="0" y="0"/>
          <a:chExt cx="0" cy="0"/>
        </a:xfrm>
      </p:grpSpPr>
      <p:sp>
        <p:nvSpPr>
          <p:cNvPr id="95" name="Google Shape;95;p13"/>
          <p:cNvSpPr txBox="1">
            <a:spLocks noGrp="1"/>
          </p:cNvSpPr>
          <p:nvPr>
            <p:ph type="title"/>
          </p:nvPr>
        </p:nvSpPr>
        <p:spPr>
          <a:xfrm>
            <a:off x="354000" y="1863133"/>
            <a:ext cx="5393700" cy="1757700"/>
          </a:xfrm>
          <a:prstGeom prst="rect">
            <a:avLst/>
          </a:prstGeom>
        </p:spPr>
        <p:txBody>
          <a:bodyPr spcFirstLastPara="1" wrap="square" lIns="91425" tIns="45700" rIns="91425" bIns="45700" anchor="b" anchorCtr="0">
            <a:normAutofit/>
          </a:bodyPr>
          <a:lstStyle>
            <a:lvl1pPr lvl="0" algn="ctr" rtl="0">
              <a:spcBef>
                <a:spcPts val="0"/>
              </a:spcBef>
              <a:spcAft>
                <a:spcPts val="0"/>
              </a:spcAft>
              <a:buClr>
                <a:schemeClr val="dk1"/>
              </a:buClr>
              <a:buSzPts val="4800"/>
              <a:buNone/>
              <a:defRPr sz="4800">
                <a:solidFill>
                  <a:schemeClr val="dk1"/>
                </a:solidFill>
              </a:defRPr>
            </a:lvl1pPr>
            <a:lvl2pPr lvl="1" algn="ctr" rtl="0">
              <a:spcBef>
                <a:spcPts val="0"/>
              </a:spcBef>
              <a:spcAft>
                <a:spcPts val="0"/>
              </a:spcAft>
              <a:buClr>
                <a:schemeClr val="dk1"/>
              </a:buClr>
              <a:buSzPts val="4800"/>
              <a:buNone/>
              <a:defRPr sz="4800">
                <a:solidFill>
                  <a:schemeClr val="dk1"/>
                </a:solidFill>
              </a:defRPr>
            </a:lvl2pPr>
            <a:lvl3pPr lvl="2" algn="ctr" rtl="0">
              <a:spcBef>
                <a:spcPts val="0"/>
              </a:spcBef>
              <a:spcAft>
                <a:spcPts val="0"/>
              </a:spcAft>
              <a:buClr>
                <a:schemeClr val="dk1"/>
              </a:buClr>
              <a:buSzPts val="4800"/>
              <a:buNone/>
              <a:defRPr sz="4800">
                <a:solidFill>
                  <a:schemeClr val="dk1"/>
                </a:solidFill>
              </a:defRPr>
            </a:lvl3pPr>
            <a:lvl4pPr lvl="3" algn="ctr" rtl="0">
              <a:spcBef>
                <a:spcPts val="0"/>
              </a:spcBef>
              <a:spcAft>
                <a:spcPts val="0"/>
              </a:spcAft>
              <a:buClr>
                <a:schemeClr val="dk1"/>
              </a:buClr>
              <a:buSzPts val="4800"/>
              <a:buNone/>
              <a:defRPr sz="4800">
                <a:solidFill>
                  <a:schemeClr val="dk1"/>
                </a:solidFill>
              </a:defRPr>
            </a:lvl4pPr>
            <a:lvl5pPr lvl="4" algn="ctr" rtl="0">
              <a:spcBef>
                <a:spcPts val="0"/>
              </a:spcBef>
              <a:spcAft>
                <a:spcPts val="0"/>
              </a:spcAft>
              <a:buClr>
                <a:schemeClr val="dk1"/>
              </a:buClr>
              <a:buSzPts val="4800"/>
              <a:buNone/>
              <a:defRPr sz="4800">
                <a:solidFill>
                  <a:schemeClr val="dk1"/>
                </a:solidFill>
              </a:defRPr>
            </a:lvl5pPr>
            <a:lvl6pPr lvl="5" algn="ctr" rtl="0">
              <a:spcBef>
                <a:spcPts val="0"/>
              </a:spcBef>
              <a:spcAft>
                <a:spcPts val="0"/>
              </a:spcAft>
              <a:buClr>
                <a:schemeClr val="dk1"/>
              </a:buClr>
              <a:buSzPts val="4800"/>
              <a:buNone/>
              <a:defRPr sz="4800">
                <a:solidFill>
                  <a:schemeClr val="dk1"/>
                </a:solidFill>
              </a:defRPr>
            </a:lvl6pPr>
            <a:lvl7pPr lvl="6" algn="ctr" rtl="0">
              <a:spcBef>
                <a:spcPts val="0"/>
              </a:spcBef>
              <a:spcAft>
                <a:spcPts val="0"/>
              </a:spcAft>
              <a:buClr>
                <a:schemeClr val="dk1"/>
              </a:buClr>
              <a:buSzPts val="4800"/>
              <a:buNone/>
              <a:defRPr sz="4800">
                <a:solidFill>
                  <a:schemeClr val="dk1"/>
                </a:solidFill>
              </a:defRPr>
            </a:lvl7pPr>
            <a:lvl8pPr lvl="7" algn="ctr" rtl="0">
              <a:spcBef>
                <a:spcPts val="0"/>
              </a:spcBef>
              <a:spcAft>
                <a:spcPts val="0"/>
              </a:spcAft>
              <a:buClr>
                <a:schemeClr val="dk1"/>
              </a:buClr>
              <a:buSzPts val="4800"/>
              <a:buNone/>
              <a:defRPr sz="4800">
                <a:solidFill>
                  <a:schemeClr val="dk1"/>
                </a:solidFill>
              </a:defRPr>
            </a:lvl8pPr>
            <a:lvl9pPr lvl="8" algn="ctr" rtl="0">
              <a:spcBef>
                <a:spcPts val="0"/>
              </a:spcBef>
              <a:spcAft>
                <a:spcPts val="0"/>
              </a:spcAft>
              <a:buClr>
                <a:schemeClr val="dk1"/>
              </a:buClr>
              <a:buSzPts val="4800"/>
              <a:buNone/>
              <a:defRPr sz="4800">
                <a:solidFill>
                  <a:schemeClr val="dk1"/>
                </a:solidFill>
              </a:defRPr>
            </a:lvl9pPr>
          </a:lstStyle>
          <a:p>
            <a:endParaRPr/>
          </a:p>
        </p:txBody>
      </p:sp>
      <p:sp>
        <p:nvSpPr>
          <p:cNvPr id="96" name="Google Shape;96;p13"/>
          <p:cNvSpPr txBox="1">
            <a:spLocks noGrp="1"/>
          </p:cNvSpPr>
          <p:nvPr>
            <p:ph type="subTitle" idx="1"/>
          </p:nvPr>
        </p:nvSpPr>
        <p:spPr>
          <a:xfrm>
            <a:off x="354000" y="3647161"/>
            <a:ext cx="5393700" cy="1794000"/>
          </a:xfrm>
          <a:prstGeom prst="rect">
            <a:avLst/>
          </a:prstGeom>
        </p:spPr>
        <p:txBody>
          <a:bodyPr spcFirstLastPara="1" wrap="square" lIns="91425" tIns="45700" rIns="91425" bIns="45700" anchor="ctr" anchorCtr="0">
            <a:normAutofit/>
          </a:bodyPr>
          <a:lstStyle>
            <a:lvl1pPr lvl="0" algn="ctr" rtl="0">
              <a:lnSpc>
                <a:spcPct val="100000"/>
              </a:lnSpc>
              <a:spcBef>
                <a:spcPts val="360"/>
              </a:spcBef>
              <a:spcAft>
                <a:spcPts val="0"/>
              </a:spcAft>
              <a:buSzPts val="2800"/>
              <a:buNone/>
              <a:defRPr sz="2800"/>
            </a:lvl1pPr>
            <a:lvl2pPr lvl="1" algn="ctr" rtl="0">
              <a:lnSpc>
                <a:spcPct val="100000"/>
              </a:lnSpc>
              <a:spcBef>
                <a:spcPts val="320"/>
              </a:spcBef>
              <a:spcAft>
                <a:spcPts val="0"/>
              </a:spcAft>
              <a:buSzPts val="2800"/>
              <a:buNone/>
              <a:defRPr sz="2800"/>
            </a:lvl2pPr>
            <a:lvl3pPr lvl="2" algn="ctr" rtl="0">
              <a:lnSpc>
                <a:spcPct val="100000"/>
              </a:lnSpc>
              <a:spcBef>
                <a:spcPts val="280"/>
              </a:spcBef>
              <a:spcAft>
                <a:spcPts val="0"/>
              </a:spcAft>
              <a:buSzPts val="2800"/>
              <a:buNone/>
              <a:defRPr sz="2800"/>
            </a:lvl3pPr>
            <a:lvl4pPr lvl="3" algn="ctr" rtl="0">
              <a:lnSpc>
                <a:spcPct val="100000"/>
              </a:lnSpc>
              <a:spcBef>
                <a:spcPts val="240"/>
              </a:spcBef>
              <a:spcAft>
                <a:spcPts val="0"/>
              </a:spcAft>
              <a:buSzPts val="2800"/>
              <a:buNone/>
              <a:defRPr sz="2800"/>
            </a:lvl4pPr>
            <a:lvl5pPr lvl="4" algn="ctr" rtl="0">
              <a:lnSpc>
                <a:spcPct val="100000"/>
              </a:lnSpc>
              <a:spcBef>
                <a:spcPts val="240"/>
              </a:spcBef>
              <a:spcAft>
                <a:spcPts val="0"/>
              </a:spcAft>
              <a:buSzPts val="2800"/>
              <a:buNone/>
              <a:defRPr sz="2800"/>
            </a:lvl5pPr>
            <a:lvl6pPr lvl="5" algn="ctr" rtl="0">
              <a:lnSpc>
                <a:spcPct val="100000"/>
              </a:lnSpc>
              <a:spcBef>
                <a:spcPts val="240"/>
              </a:spcBef>
              <a:spcAft>
                <a:spcPts val="0"/>
              </a:spcAft>
              <a:buSzPts val="2800"/>
              <a:buNone/>
              <a:defRPr sz="2800"/>
            </a:lvl6pPr>
            <a:lvl7pPr lvl="6" algn="ctr" rtl="0">
              <a:lnSpc>
                <a:spcPct val="100000"/>
              </a:lnSpc>
              <a:spcBef>
                <a:spcPts val="240"/>
              </a:spcBef>
              <a:spcAft>
                <a:spcPts val="0"/>
              </a:spcAft>
              <a:buSzPts val="2800"/>
              <a:buNone/>
              <a:defRPr sz="2800"/>
            </a:lvl7pPr>
            <a:lvl8pPr lvl="7" algn="ctr" rtl="0">
              <a:lnSpc>
                <a:spcPct val="100000"/>
              </a:lnSpc>
              <a:spcBef>
                <a:spcPts val="240"/>
              </a:spcBef>
              <a:spcAft>
                <a:spcPts val="0"/>
              </a:spcAft>
              <a:buSzPts val="2800"/>
              <a:buNone/>
              <a:defRPr sz="2800"/>
            </a:lvl8pPr>
            <a:lvl9pPr lvl="8" algn="ctr" rtl="0">
              <a:lnSpc>
                <a:spcPct val="100000"/>
              </a:lnSpc>
              <a:spcBef>
                <a:spcPts val="240"/>
              </a:spcBef>
              <a:spcAft>
                <a:spcPts val="0"/>
              </a:spcAft>
              <a:buSzPts val="2800"/>
              <a:buNone/>
              <a:defRPr sz="2800"/>
            </a:lvl9pPr>
          </a:lstStyle>
          <a:p>
            <a:endParaRPr/>
          </a:p>
        </p:txBody>
      </p:sp>
      <p:sp>
        <p:nvSpPr>
          <p:cNvPr id="97" name="Google Shape;97;p13"/>
          <p:cNvSpPr txBox="1">
            <a:spLocks noGrp="1"/>
          </p:cNvSpPr>
          <p:nvPr>
            <p:ph type="body" idx="2"/>
          </p:nvPr>
        </p:nvSpPr>
        <p:spPr>
          <a:xfrm>
            <a:off x="6586000" y="965600"/>
            <a:ext cx="5115900" cy="4926900"/>
          </a:xfrm>
          <a:prstGeom prst="rect">
            <a:avLst/>
          </a:prstGeom>
        </p:spPr>
        <p:txBody>
          <a:bodyPr spcFirstLastPara="1" wrap="square" lIns="91425" tIns="45700" rIns="91425" bIns="45700" anchor="ctr" anchorCtr="0">
            <a:normAutofit/>
          </a:bodyPr>
          <a:lstStyle>
            <a:lvl1pPr marL="457200" lvl="0" indent="-333756" rtl="0">
              <a:spcBef>
                <a:spcPts val="360"/>
              </a:spcBef>
              <a:spcAft>
                <a:spcPts val="0"/>
              </a:spcAft>
              <a:buClr>
                <a:schemeClr val="lt1"/>
              </a:buClr>
              <a:buSzPts val="1656"/>
              <a:buChar char="◼"/>
              <a:defRPr>
                <a:solidFill>
                  <a:schemeClr val="lt1"/>
                </a:solidFill>
              </a:defRPr>
            </a:lvl1pPr>
            <a:lvl2pPr marL="914400" lvl="1" indent="-322072" rtl="0">
              <a:spcBef>
                <a:spcPts val="600"/>
              </a:spcBef>
              <a:spcAft>
                <a:spcPts val="0"/>
              </a:spcAft>
              <a:buClr>
                <a:schemeClr val="lt1"/>
              </a:buClr>
              <a:buSzPts val="1472"/>
              <a:buChar char="◼"/>
              <a:defRPr>
                <a:solidFill>
                  <a:schemeClr val="lt1"/>
                </a:solidFill>
              </a:defRPr>
            </a:lvl2pPr>
            <a:lvl3pPr marL="1371600" lvl="2" indent="-310388" rtl="0">
              <a:spcBef>
                <a:spcPts val="600"/>
              </a:spcBef>
              <a:spcAft>
                <a:spcPts val="0"/>
              </a:spcAft>
              <a:buClr>
                <a:schemeClr val="lt1"/>
              </a:buClr>
              <a:buSzPts val="1288"/>
              <a:buChar char="◼"/>
              <a:defRPr>
                <a:solidFill>
                  <a:schemeClr val="lt1"/>
                </a:solidFill>
              </a:defRPr>
            </a:lvl3pPr>
            <a:lvl4pPr marL="1828800" lvl="3" indent="-298703" rtl="0">
              <a:spcBef>
                <a:spcPts val="600"/>
              </a:spcBef>
              <a:spcAft>
                <a:spcPts val="0"/>
              </a:spcAft>
              <a:buClr>
                <a:schemeClr val="lt1"/>
              </a:buClr>
              <a:buSzPts val="1104"/>
              <a:buChar char="◼"/>
              <a:defRPr>
                <a:solidFill>
                  <a:schemeClr val="lt1"/>
                </a:solidFill>
              </a:defRPr>
            </a:lvl4pPr>
            <a:lvl5pPr marL="2286000" lvl="4" indent="-298704" rtl="0">
              <a:spcBef>
                <a:spcPts val="600"/>
              </a:spcBef>
              <a:spcAft>
                <a:spcPts val="0"/>
              </a:spcAft>
              <a:buClr>
                <a:schemeClr val="lt1"/>
              </a:buClr>
              <a:buSzPts val="1104"/>
              <a:buChar char="◼"/>
              <a:defRPr>
                <a:solidFill>
                  <a:schemeClr val="lt1"/>
                </a:solidFill>
              </a:defRPr>
            </a:lvl5pPr>
            <a:lvl6pPr marL="2743200" lvl="5" indent="-298704" rtl="0">
              <a:spcBef>
                <a:spcPts val="600"/>
              </a:spcBef>
              <a:spcAft>
                <a:spcPts val="0"/>
              </a:spcAft>
              <a:buClr>
                <a:schemeClr val="lt1"/>
              </a:buClr>
              <a:buSzPts val="1104"/>
              <a:buChar char="◼"/>
              <a:defRPr>
                <a:solidFill>
                  <a:schemeClr val="lt1"/>
                </a:solidFill>
              </a:defRPr>
            </a:lvl6pPr>
            <a:lvl7pPr marL="3200400" lvl="6" indent="-298704" rtl="0">
              <a:spcBef>
                <a:spcPts val="600"/>
              </a:spcBef>
              <a:spcAft>
                <a:spcPts val="0"/>
              </a:spcAft>
              <a:buClr>
                <a:schemeClr val="lt1"/>
              </a:buClr>
              <a:buSzPts val="1104"/>
              <a:buChar char="◼"/>
              <a:defRPr>
                <a:solidFill>
                  <a:schemeClr val="lt1"/>
                </a:solidFill>
              </a:defRPr>
            </a:lvl7pPr>
            <a:lvl8pPr marL="3657600" lvl="7" indent="-298703" rtl="0">
              <a:spcBef>
                <a:spcPts val="600"/>
              </a:spcBef>
              <a:spcAft>
                <a:spcPts val="0"/>
              </a:spcAft>
              <a:buClr>
                <a:schemeClr val="lt1"/>
              </a:buClr>
              <a:buSzPts val="1104"/>
              <a:buChar char="◼"/>
              <a:defRPr>
                <a:solidFill>
                  <a:schemeClr val="lt1"/>
                </a:solidFill>
              </a:defRPr>
            </a:lvl8pPr>
            <a:lvl9pPr marL="4114800" lvl="8" indent="-298703" rtl="0">
              <a:spcBef>
                <a:spcPts val="600"/>
              </a:spcBef>
              <a:spcAft>
                <a:spcPts val="600"/>
              </a:spcAft>
              <a:buClr>
                <a:schemeClr val="lt1"/>
              </a:buClr>
              <a:buSzPts val="1104"/>
              <a:buChar char="◼"/>
              <a:defRPr>
                <a:solidFill>
                  <a:schemeClr val="lt1"/>
                </a:solidFill>
              </a:defRPr>
            </a:lvl9pPr>
          </a:lstStyle>
          <a:p>
            <a:endParaRPr/>
          </a:p>
        </p:txBody>
      </p:sp>
      <p:sp>
        <p:nvSpPr>
          <p:cNvPr id="98" name="Google Shape;98;p13"/>
          <p:cNvSpPr txBox="1">
            <a:spLocks noGrp="1"/>
          </p:cNvSpPr>
          <p:nvPr>
            <p:ph type="sldNum" idx="12"/>
          </p:nvPr>
        </p:nvSpPr>
        <p:spPr>
          <a:xfrm>
            <a:off x="11330666" y="6251679"/>
            <a:ext cx="731700" cy="524700"/>
          </a:xfrm>
          <a:prstGeom prst="rect">
            <a:avLst/>
          </a:prstGeom>
        </p:spPr>
        <p:txBody>
          <a:bodyPr spcFirstLastPara="1" wrap="square" lIns="91425" tIns="45700" rIns="91425" bIns="4570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59641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5021159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4"/>
          <p:cNvSpPr txBox="1">
            <a:spLocks noGrp="1"/>
          </p:cNvSpPr>
          <p:nvPr>
            <p:ph type="ctrTitle"/>
          </p:nvPr>
        </p:nvSpPr>
        <p:spPr>
          <a:xfrm>
            <a:off x="1979629" y="2215299"/>
            <a:ext cx="7294374" cy="1093509"/>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b="1" dirty="0"/>
              <a:t>Fake News Detection</a:t>
            </a:r>
            <a:endParaRPr b="1" dirty="0"/>
          </a:p>
        </p:txBody>
      </p:sp>
      <p:sp>
        <p:nvSpPr>
          <p:cNvPr id="104" name="Google Shape;104;p14"/>
          <p:cNvSpPr txBox="1">
            <a:spLocks noGrp="1"/>
          </p:cNvSpPr>
          <p:nvPr>
            <p:ph type="subTitle" idx="1"/>
          </p:nvPr>
        </p:nvSpPr>
        <p:spPr>
          <a:xfrm>
            <a:off x="1507067" y="7682844"/>
            <a:ext cx="7766936" cy="292231"/>
          </a:xfrm>
          <a:prstGeom prst="rect">
            <a:avLst/>
          </a:prstGeom>
        </p:spPr>
        <p:txBody>
          <a:bodyPr spcFirstLastPara="1" wrap="square" lIns="91425" tIns="45700" rIns="91425" bIns="45700" anchor="t" anchorCtr="0">
            <a:normAutofit fontScale="25000" lnSpcReduction="20000"/>
          </a:bodyPr>
          <a:lstStyle/>
          <a:p>
            <a:pPr marL="0" lvl="0" indent="0" algn="l" rtl="0">
              <a:spcBef>
                <a:spcPts val="320"/>
              </a:spcBef>
              <a:spcAft>
                <a:spcPts val="600"/>
              </a:spcAft>
              <a:buNone/>
            </a:pPr>
            <a:r>
              <a:rPr lang="en-US" sz="3100" dirty="0" err="1">
                <a:solidFill>
                  <a:schemeClr val="lt1"/>
                </a:solidFill>
              </a:rPr>
              <a:t>Vishvendra</a:t>
            </a:r>
            <a:r>
              <a:rPr lang="en-US" sz="3100" dirty="0">
                <a:solidFill>
                  <a:schemeClr val="lt1"/>
                </a:solidFill>
              </a:rPr>
              <a:t> </a:t>
            </a:r>
            <a:r>
              <a:rPr lang="en-US" sz="3100" dirty="0" err="1">
                <a:solidFill>
                  <a:schemeClr val="lt1"/>
                </a:solidFill>
              </a:rPr>
              <a:t>ingh</a:t>
            </a:r>
            <a:endParaRPr lang="en-US" sz="3100" dirty="0">
              <a:solidFill>
                <a:schemeClr val="lt1"/>
              </a:solidFill>
            </a:endParaRPr>
          </a:p>
        </p:txBody>
      </p:sp>
      <p:pic>
        <p:nvPicPr>
          <p:cNvPr id="105" name="Google Shape;105;p14"/>
          <p:cNvPicPr preferRelativeResize="0"/>
          <p:nvPr/>
        </p:nvPicPr>
        <p:blipFill rotWithShape="1">
          <a:blip r:embed="rId3">
            <a:alphaModFix/>
          </a:blip>
          <a:srcRect/>
          <a:stretch/>
        </p:blipFill>
        <p:spPr>
          <a:xfrm>
            <a:off x="9723875" y="172700"/>
            <a:ext cx="2348466" cy="787200"/>
          </a:xfrm>
          <a:prstGeom prst="rect">
            <a:avLst/>
          </a:prstGeom>
          <a:noFill/>
          <a:ln>
            <a:noFill/>
          </a:ln>
        </p:spPr>
      </p:pic>
      <p:sp>
        <p:nvSpPr>
          <p:cNvPr id="2" name="TextBox 1">
            <a:extLst>
              <a:ext uri="{FF2B5EF4-FFF2-40B4-BE49-F238E27FC236}">
                <a16:creationId xmlns:a16="http://schemas.microsoft.com/office/drawing/2014/main" id="{DA527933-DA18-4589-A2D0-D6EF5421F7DD}"/>
              </a:ext>
            </a:extLst>
          </p:cNvPr>
          <p:cNvSpPr txBox="1"/>
          <p:nvPr/>
        </p:nvSpPr>
        <p:spPr>
          <a:xfrm>
            <a:off x="2907567" y="3770722"/>
            <a:ext cx="4594528" cy="523220"/>
          </a:xfrm>
          <a:prstGeom prst="rect">
            <a:avLst/>
          </a:prstGeom>
          <a:noFill/>
        </p:spPr>
        <p:txBody>
          <a:bodyPr wrap="none" rtlCol="0">
            <a:spAutoFit/>
          </a:bodyPr>
          <a:lstStyle/>
          <a:p>
            <a:r>
              <a:rPr lang="en-IN" sz="2800" dirty="0">
                <a:solidFill>
                  <a:srgbClr val="0070C0"/>
                </a:solidFill>
              </a:rPr>
              <a:t>Submitted by: Nipam Gogoi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5"/>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b="1"/>
              <a:t>INTRODUCTION </a:t>
            </a:r>
            <a:endParaRPr/>
          </a:p>
        </p:txBody>
      </p:sp>
      <p:sp>
        <p:nvSpPr>
          <p:cNvPr id="111" name="Google Shape;111;p15"/>
          <p:cNvSpPr txBox="1">
            <a:spLocks noGrp="1"/>
          </p:cNvSpPr>
          <p:nvPr>
            <p:ph idx="1"/>
          </p:nvPr>
        </p:nvSpPr>
        <p:spPr>
          <a:prstGeom prst="rect">
            <a:avLst/>
          </a:prstGeom>
          <a:noFill/>
          <a:ln>
            <a:noFill/>
          </a:ln>
        </p:spPr>
        <p:txBody>
          <a:bodyPr spcFirstLastPara="1" wrap="square" lIns="91425" tIns="45700" rIns="91425" bIns="45700" anchor="ctr" anchorCtr="0">
            <a:normAutofit/>
          </a:bodyPr>
          <a:lstStyle/>
          <a:p>
            <a:pPr algn="just">
              <a:lnSpc>
                <a:spcPct val="150000"/>
              </a:lnSpc>
              <a:spcAft>
                <a:spcPts val="1575"/>
              </a:spcAft>
            </a:pPr>
            <a:r>
              <a:rPr lang="en-US" sz="1800" dirty="0">
                <a:solidFill>
                  <a:srgbClr val="000000"/>
                </a:solidFill>
                <a:effectLst/>
                <a:latin typeface="Arial" panose="020B0604020202020204" pitchFamily="34" charset="0"/>
                <a:ea typeface="Times New Roman" panose="02020603050405020304" pitchFamily="18" charset="0"/>
              </a:rPr>
              <a:t>News media has become a channel to pass on the information of what’s happening in the world to the people living. Often people perceive whatever conveyed in the news to be true. There were circumstances where even the news channels acknowledged that their news is not true as they wrote. But some news has a significant impact not only on the people or government but also on the economy. One news can shift the curves up and down depending on the emotions of people and political situation. </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6"/>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a:t>CONCEPTUAL BACKGROUND OF THE DOMAIN PROBLEM </a:t>
            </a:r>
            <a:endParaRPr/>
          </a:p>
        </p:txBody>
      </p:sp>
      <p:sp>
        <p:nvSpPr>
          <p:cNvPr id="117" name="Google Shape;117;p16"/>
          <p:cNvSpPr txBox="1">
            <a:spLocks noGrp="1"/>
          </p:cNvSpPr>
          <p:nvPr>
            <p:ph idx="1"/>
          </p:nvPr>
        </p:nvSpPr>
        <p:spPr>
          <a:prstGeom prst="rect">
            <a:avLst/>
          </a:prstGeom>
          <a:noFill/>
          <a:ln>
            <a:noFill/>
          </a:ln>
        </p:spPr>
        <p:txBody>
          <a:bodyPr spcFirstLastPara="1" wrap="square" lIns="91425" tIns="45700" rIns="91425" bIns="45700" anchor="ctr" anchorCtr="0">
            <a:normAutofit/>
          </a:bodyPr>
          <a:lstStyle/>
          <a:p>
            <a:pPr marL="306000" lvl="0" indent="-306000" algn="l" rtl="0">
              <a:spcBef>
                <a:spcPts val="0"/>
              </a:spcBef>
              <a:spcAft>
                <a:spcPts val="0"/>
              </a:spcAft>
              <a:buSzPts val="1656"/>
              <a:buChar char="◼"/>
            </a:pPr>
            <a:r>
              <a:rPr lang="en-IN" sz="1800" dirty="0">
                <a:effectLst/>
                <a:latin typeface="Arial" panose="020B0604020202020204" pitchFamily="34" charset="0"/>
                <a:ea typeface="Calibri" panose="020F0502020204030204" pitchFamily="34" charset="0"/>
              </a:rPr>
              <a:t>The widespread problem of fake news is very difficult to tackle in today’s digital world where there are thousands of information sharing platforms through which fake news or misinformation may propagate. It has become a greater issue because of the advancements in AI which brings along artificial bots that may be used to create and spread fake news. The situation is dire because many people believe anything they read on the internet and the ones who are amateur or are new to the digital technology may be easily fooled. </a:t>
            </a:r>
          </a:p>
          <a:p>
            <a:pPr marL="306000" lvl="0" indent="-306000" algn="l" rtl="0">
              <a:spcBef>
                <a:spcPts val="0"/>
              </a:spcBef>
              <a:spcAft>
                <a:spcPts val="0"/>
              </a:spcAft>
              <a:buSzPts val="1656"/>
              <a:buChar char="◼"/>
            </a:pPr>
            <a:r>
              <a:rPr lang="en-US" dirty="0"/>
              <a:t>Fake news detection on social media is still in the early age of development, and there are still many challenging issues that need further investigations. It is necessary to discuss potential research directions that can improve fake news detection and mitigation capabilities.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7"/>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b="1"/>
              <a:t>ANALYTICAL PROBLEM FRAMING </a:t>
            </a:r>
            <a:endParaRPr/>
          </a:p>
        </p:txBody>
      </p:sp>
      <p:sp>
        <p:nvSpPr>
          <p:cNvPr id="123" name="Google Shape;123;p17"/>
          <p:cNvSpPr txBox="1">
            <a:spLocks noGrp="1"/>
          </p:cNvSpPr>
          <p:nvPr>
            <p:ph idx="1"/>
          </p:nvPr>
        </p:nvSpPr>
        <p:spPr>
          <a:xfrm>
            <a:off x="677334" y="980389"/>
            <a:ext cx="8596668" cy="5060974"/>
          </a:xfrm>
          <a:prstGeom prst="rect">
            <a:avLst/>
          </a:prstGeom>
          <a:noFill/>
          <a:ln>
            <a:noFill/>
          </a:ln>
        </p:spPr>
        <p:txBody>
          <a:bodyPr spcFirstLastPara="1" wrap="square" lIns="91425" tIns="45700" rIns="91425" bIns="45700" anchor="ctr" anchorCtr="0">
            <a:normAutofit/>
          </a:bodyPr>
          <a:lstStyle/>
          <a:p>
            <a:pPr marL="306000" lvl="0" indent="-306000" algn="l" rtl="0">
              <a:spcBef>
                <a:spcPts val="960"/>
              </a:spcBef>
              <a:spcAft>
                <a:spcPts val="0"/>
              </a:spcAft>
              <a:buSzPts val="1656"/>
              <a:buChar char="◼"/>
            </a:pPr>
            <a:r>
              <a:rPr lang="en-US" dirty="0"/>
              <a:t>It is a binary classification problem with Fake news labelled as 1 and Real news labelled as 0.</a:t>
            </a:r>
          </a:p>
          <a:p>
            <a:pPr marL="306000" lvl="0" indent="-306000" algn="l" rtl="0">
              <a:spcBef>
                <a:spcPts val="960"/>
              </a:spcBef>
              <a:spcAft>
                <a:spcPts val="0"/>
              </a:spcAft>
              <a:buSzPts val="1656"/>
              <a:buChar char="◼"/>
            </a:pPr>
            <a:r>
              <a:rPr lang="en-US" dirty="0"/>
              <a:t>We have 20800 news records in the dataset. </a:t>
            </a:r>
            <a:endParaRPr dirty="0"/>
          </a:p>
          <a:p>
            <a:pPr marL="306000" lvl="0" indent="-306000" algn="l" rtl="0">
              <a:spcBef>
                <a:spcPts val="960"/>
              </a:spcBef>
              <a:spcAft>
                <a:spcPts val="0"/>
              </a:spcAft>
              <a:buSzPts val="1656"/>
              <a:buChar char="◼"/>
            </a:pPr>
            <a:r>
              <a:rPr lang="en-US" dirty="0"/>
              <a:t>There are some missing values in the dataset but are negligible in numbers.</a:t>
            </a:r>
          </a:p>
          <a:p>
            <a:pPr marL="306000" lvl="0" indent="-306000" algn="l" rtl="0">
              <a:spcBef>
                <a:spcPts val="960"/>
              </a:spcBef>
              <a:spcAft>
                <a:spcPts val="0"/>
              </a:spcAft>
              <a:buSzPts val="1656"/>
              <a:buChar char="◼"/>
            </a:pPr>
            <a:r>
              <a:rPr lang="en-US" dirty="0"/>
              <a:t>There are in total 5 features in the dataset. </a:t>
            </a:r>
          </a:p>
          <a:p>
            <a:pPr marL="306000" lvl="0" indent="-306000" algn="l" rtl="0">
              <a:spcBef>
                <a:spcPts val="960"/>
              </a:spcBef>
              <a:spcAft>
                <a:spcPts val="0"/>
              </a:spcAft>
              <a:buSzPts val="1656"/>
              <a:buChar char="◼"/>
            </a:pPr>
            <a:r>
              <a:rPr lang="en-US" dirty="0"/>
              <a:t>Since the dataset contains text data, we need to use Natural Language processing techniques for predicting fake news.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7"/>
        <p:cNvGrpSpPr/>
        <p:nvPr/>
      </p:nvGrpSpPr>
      <p:grpSpPr>
        <a:xfrm>
          <a:off x="0" y="0"/>
          <a:ext cx="0" cy="0"/>
          <a:chOff x="0" y="0"/>
          <a:chExt cx="0" cy="0"/>
        </a:xfrm>
      </p:grpSpPr>
      <p:grpSp>
        <p:nvGrpSpPr>
          <p:cNvPr id="82" name="Group 81">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3" name="Straight Connector 82">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5"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6"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7" name="Isosceles Triangle 86">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88"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9"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0"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91" name="Isosceles Triangle 90">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2" name="Isosceles Triangle 91">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161" name="Picture 141" descr="Graphs and plots layered on a blue digital screen">
            <a:extLst>
              <a:ext uri="{FF2B5EF4-FFF2-40B4-BE49-F238E27FC236}">
                <a16:creationId xmlns:a16="http://schemas.microsoft.com/office/drawing/2014/main" id="{85806EBF-692B-422A-8449-5A331A969837}"/>
              </a:ext>
            </a:extLst>
          </p:cNvPr>
          <p:cNvPicPr>
            <a:picLocks noChangeAspect="1"/>
          </p:cNvPicPr>
          <p:nvPr/>
        </p:nvPicPr>
        <p:blipFill rotWithShape="1">
          <a:blip r:embed="rId3"/>
          <a:srcRect l="10268" r="3094"/>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140" name="Google Shape;140;p18"/>
          <p:cNvSpPr txBox="1">
            <a:spLocks noGrp="1"/>
          </p:cNvSpPr>
          <p:nvPr>
            <p:ph type="title"/>
          </p:nvPr>
        </p:nvSpPr>
        <p:spPr>
          <a:xfrm>
            <a:off x="668867" y="2752928"/>
            <a:ext cx="4088190" cy="2913226"/>
          </a:xfrm>
          <a:prstGeom prst="rect">
            <a:avLst/>
          </a:prstGeom>
        </p:spPr>
        <p:txBody>
          <a:bodyPr spcFirstLastPara="1" vert="horz" lIns="91440" tIns="45720" rIns="91440" bIns="45720" rtlCol="0" anchor="b" anchorCtr="0">
            <a:normAutofit/>
          </a:bodyPr>
          <a:lstStyle/>
          <a:p>
            <a:pPr marL="0" lvl="0" indent="0" algn="r">
              <a:lnSpc>
                <a:spcPct val="90000"/>
              </a:lnSpc>
              <a:spcBef>
                <a:spcPct val="0"/>
              </a:spcBef>
              <a:spcAft>
                <a:spcPts val="0"/>
              </a:spcAft>
              <a:buClr>
                <a:schemeClr val="dk1"/>
              </a:buClr>
              <a:buSzPts val="990"/>
            </a:pPr>
            <a:r>
              <a:rPr lang="en-US" sz="4000" dirty="0">
                <a:solidFill>
                  <a:schemeClr val="accent1"/>
                </a:solidFill>
              </a:rPr>
              <a:t>VISUALIZATION AND DATA INTERPRETATION</a:t>
            </a:r>
          </a:p>
          <a:p>
            <a:pPr marL="0" lvl="0" indent="0" algn="r">
              <a:lnSpc>
                <a:spcPct val="90000"/>
              </a:lnSpc>
              <a:spcBef>
                <a:spcPct val="0"/>
              </a:spcBef>
              <a:spcAft>
                <a:spcPts val="0"/>
              </a:spcAft>
              <a:buClr>
                <a:schemeClr val="dk1"/>
              </a:buClr>
              <a:buSzPts val="990"/>
            </a:pPr>
            <a:endParaRPr lang="en-US" sz="4100" dirty="0">
              <a:solidFill>
                <a:schemeClr val="accent1"/>
              </a:solidFill>
            </a:endParaRPr>
          </a:p>
          <a:p>
            <a:pPr marL="0" lvl="0" indent="0" algn="r">
              <a:lnSpc>
                <a:spcPct val="90000"/>
              </a:lnSpc>
              <a:spcBef>
                <a:spcPct val="0"/>
              </a:spcBef>
              <a:spcAft>
                <a:spcPts val="0"/>
              </a:spcAft>
            </a:pPr>
            <a:endParaRPr lang="en-US" sz="4100" dirty="0">
              <a:solidFill>
                <a:schemeClr val="accent1"/>
              </a:solidFill>
            </a:endParaRPr>
          </a:p>
        </p:txBody>
      </p:sp>
      <p:cxnSp>
        <p:nvCxnSpPr>
          <p:cNvPr id="94" name="Straight Connector 93">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8"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0"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2"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6"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8"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0"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140"/>
                                        </p:tgtEl>
                                        <p:attrNameLst>
                                          <p:attrName>style.visibility</p:attrName>
                                        </p:attrNameLst>
                                      </p:cBhvr>
                                      <p:to>
                                        <p:strVal val="visible"/>
                                      </p:to>
                                    </p:set>
                                    <p:animEffect transition="in" filter="fade">
                                      <p:cBhvr>
                                        <p:cTn id="7" dur="7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19"/>
          <p:cNvSpPr txBox="1"/>
          <p:nvPr/>
        </p:nvSpPr>
        <p:spPr>
          <a:xfrm>
            <a:off x="6096000" y="2638800"/>
            <a:ext cx="39189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5600" dirty="0">
                <a:solidFill>
                  <a:schemeClr val="tx2"/>
                </a:solidFill>
                <a:latin typeface="Gill Sans"/>
                <a:ea typeface="Gill Sans"/>
                <a:cs typeface="Gill Sans"/>
                <a:sym typeface="Gill Sans"/>
              </a:rPr>
              <a:t>Missing Data</a:t>
            </a:r>
            <a:endParaRPr sz="5600" dirty="0">
              <a:solidFill>
                <a:schemeClr val="tx2"/>
              </a:solidFill>
              <a:latin typeface="Gill Sans"/>
              <a:ea typeface="Gill Sans"/>
              <a:cs typeface="Gill Sans"/>
              <a:sym typeface="Gill Sans"/>
            </a:endParaRPr>
          </a:p>
        </p:txBody>
      </p:sp>
      <p:pic>
        <p:nvPicPr>
          <p:cNvPr id="3" name="Picture 2">
            <a:extLst>
              <a:ext uri="{FF2B5EF4-FFF2-40B4-BE49-F238E27FC236}">
                <a16:creationId xmlns:a16="http://schemas.microsoft.com/office/drawing/2014/main" id="{DE09B0C2-B059-4872-A3BA-757A59CE11FB}"/>
              </a:ext>
            </a:extLst>
          </p:cNvPr>
          <p:cNvPicPr>
            <a:picLocks noChangeAspect="1"/>
          </p:cNvPicPr>
          <p:nvPr/>
        </p:nvPicPr>
        <p:blipFill>
          <a:blip r:embed="rId3"/>
          <a:stretch>
            <a:fillRect/>
          </a:stretch>
        </p:blipFill>
        <p:spPr>
          <a:xfrm>
            <a:off x="1503835" y="2254385"/>
            <a:ext cx="3360466" cy="31152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1"/>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dirty="0"/>
              <a:t>WORDCLOUDS - REAL NEWS vs FAKE NEWS </a:t>
            </a:r>
            <a:endParaRPr dirty="0"/>
          </a:p>
        </p:txBody>
      </p:sp>
      <p:sp>
        <p:nvSpPr>
          <p:cNvPr id="183" name="Google Shape;183;p21"/>
          <p:cNvSpPr txBox="1"/>
          <p:nvPr/>
        </p:nvSpPr>
        <p:spPr>
          <a:xfrm>
            <a:off x="2665379" y="4975883"/>
            <a:ext cx="1156628"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dirty="0">
                <a:solidFill>
                  <a:schemeClr val="dk1"/>
                </a:solidFill>
                <a:latin typeface="Arial"/>
                <a:ea typeface="Arial"/>
                <a:cs typeface="Arial"/>
                <a:sym typeface="Arial"/>
              </a:rPr>
              <a:t>REAL  </a:t>
            </a:r>
            <a:r>
              <a:rPr lang="en-US" sz="1500" b="0" i="0" u="none" strike="noStrike" cap="none" dirty="0">
                <a:solidFill>
                  <a:schemeClr val="dk1"/>
                </a:solidFill>
                <a:latin typeface="Arial"/>
                <a:ea typeface="Arial"/>
                <a:cs typeface="Arial"/>
                <a:sym typeface="Arial"/>
              </a:rPr>
              <a:t>    </a:t>
            </a:r>
            <a:r>
              <a:rPr lang="en-US" sz="3200" b="0" i="0" u="none" strike="noStrike" cap="none" dirty="0">
                <a:solidFill>
                  <a:schemeClr val="dk1"/>
                </a:solidFill>
                <a:latin typeface="Arial"/>
                <a:ea typeface="Arial"/>
                <a:cs typeface="Arial"/>
                <a:sym typeface="Arial"/>
              </a:rPr>
              <a:t>                                                   </a:t>
            </a:r>
            <a:endParaRPr sz="3200" dirty="0">
              <a:solidFill>
                <a:schemeClr val="dk1"/>
              </a:solidFill>
              <a:latin typeface="Arial"/>
              <a:ea typeface="Arial"/>
              <a:cs typeface="Arial"/>
              <a:sym typeface="Arial"/>
            </a:endParaRPr>
          </a:p>
        </p:txBody>
      </p:sp>
      <p:sp>
        <p:nvSpPr>
          <p:cNvPr id="184" name="Google Shape;184;p21"/>
          <p:cNvSpPr txBox="1"/>
          <p:nvPr/>
        </p:nvSpPr>
        <p:spPr>
          <a:xfrm>
            <a:off x="7960002" y="4946731"/>
            <a:ext cx="13140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chemeClr val="dk1"/>
                </a:solidFill>
              </a:rPr>
              <a:t>FAKE</a:t>
            </a:r>
            <a:r>
              <a:rPr lang="en-US" sz="1500" b="1" i="0" u="none" strike="noStrike" cap="none" dirty="0">
                <a:solidFill>
                  <a:schemeClr val="dk1"/>
                </a:solidFill>
                <a:latin typeface="Arial"/>
                <a:ea typeface="Arial"/>
                <a:cs typeface="Arial"/>
                <a:sym typeface="Arial"/>
              </a:rPr>
              <a:t> </a:t>
            </a:r>
            <a:r>
              <a:rPr lang="en-US" sz="1500" b="0" i="0" u="none" strike="noStrike" cap="none" dirty="0">
                <a:solidFill>
                  <a:schemeClr val="dk1"/>
                </a:solidFill>
                <a:latin typeface="Arial"/>
                <a:ea typeface="Arial"/>
                <a:cs typeface="Arial"/>
                <a:sym typeface="Arial"/>
              </a:rPr>
              <a:t>    </a:t>
            </a:r>
            <a:r>
              <a:rPr lang="en-US" sz="3200" b="0" i="0" u="none" strike="noStrike" cap="none" dirty="0">
                <a:solidFill>
                  <a:schemeClr val="dk1"/>
                </a:solidFill>
                <a:latin typeface="Arial"/>
                <a:ea typeface="Arial"/>
                <a:cs typeface="Arial"/>
                <a:sym typeface="Arial"/>
              </a:rPr>
              <a:t>                                                   </a:t>
            </a:r>
            <a:endParaRPr sz="3200" dirty="0">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8BC3B536-FB4B-4831-ADC4-E87C0766B022}"/>
              </a:ext>
            </a:extLst>
          </p:cNvPr>
          <p:cNvPicPr>
            <a:picLocks noChangeAspect="1"/>
          </p:cNvPicPr>
          <p:nvPr/>
        </p:nvPicPr>
        <p:blipFill>
          <a:blip r:embed="rId3"/>
          <a:stretch>
            <a:fillRect/>
          </a:stretch>
        </p:blipFill>
        <p:spPr>
          <a:xfrm>
            <a:off x="1237102" y="2541431"/>
            <a:ext cx="4253679" cy="2553345"/>
          </a:xfrm>
          <a:prstGeom prst="rect">
            <a:avLst/>
          </a:prstGeom>
        </p:spPr>
      </p:pic>
      <p:pic>
        <p:nvPicPr>
          <p:cNvPr id="5" name="Picture 4">
            <a:extLst>
              <a:ext uri="{FF2B5EF4-FFF2-40B4-BE49-F238E27FC236}">
                <a16:creationId xmlns:a16="http://schemas.microsoft.com/office/drawing/2014/main" id="{53D34FF3-DD71-410D-B8C3-B98F117532F0}"/>
              </a:ext>
            </a:extLst>
          </p:cNvPr>
          <p:cNvPicPr>
            <a:picLocks noChangeAspect="1"/>
          </p:cNvPicPr>
          <p:nvPr/>
        </p:nvPicPr>
        <p:blipFill>
          <a:blip r:embed="rId4"/>
          <a:stretch>
            <a:fillRect/>
          </a:stretch>
        </p:blipFill>
        <p:spPr>
          <a:xfrm>
            <a:off x="6207707" y="2541431"/>
            <a:ext cx="4253679" cy="25372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a:t>VARIOUS MODELS USED FOR VALIDATION </a:t>
            </a:r>
            <a:endParaRPr/>
          </a:p>
        </p:txBody>
      </p:sp>
      <p:sp>
        <p:nvSpPr>
          <p:cNvPr id="3" name="Content Placeholder 2">
            <a:extLst>
              <a:ext uri="{FF2B5EF4-FFF2-40B4-BE49-F238E27FC236}">
                <a16:creationId xmlns:a16="http://schemas.microsoft.com/office/drawing/2014/main" id="{D9BFA747-4F68-40A6-BAF8-3848E841E82D}"/>
              </a:ext>
            </a:extLst>
          </p:cNvPr>
          <p:cNvSpPr>
            <a:spLocks noGrp="1"/>
          </p:cNvSpPr>
          <p:nvPr>
            <p:ph idx="1"/>
          </p:nvPr>
        </p:nvSpPr>
        <p:spPr>
          <a:xfrm>
            <a:off x="677334" y="2160589"/>
            <a:ext cx="9653440" cy="3880773"/>
          </a:xfrm>
        </p:spPr>
        <p:txBody>
          <a:bodyPr>
            <a:normAutofit/>
          </a:bodyPr>
          <a:lstStyle/>
          <a:p>
            <a:r>
              <a:rPr lang="en-IN" sz="2400" dirty="0"/>
              <a:t>Logistic Regression</a:t>
            </a:r>
          </a:p>
          <a:p>
            <a:r>
              <a:rPr lang="en-IN" sz="2400" dirty="0"/>
              <a:t>Random Forest Model</a:t>
            </a:r>
          </a:p>
          <a:p>
            <a:r>
              <a:rPr lang="en-IN" sz="2400" dirty="0"/>
              <a:t>Ada-Boost Classifier</a:t>
            </a:r>
          </a:p>
          <a:p>
            <a:r>
              <a:rPr lang="en-IN" sz="2400" dirty="0"/>
              <a:t>K Nearest Neighbour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3"/>
          <p:cNvSpPr txBox="1">
            <a:spLocks noGrp="1"/>
          </p:cNvSpPr>
          <p:nvPr>
            <p:ph type="title"/>
          </p:nvPr>
        </p:nvSpPr>
        <p:spPr>
          <a:xfrm>
            <a:off x="687062" y="573932"/>
            <a:ext cx="8596668" cy="982494"/>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dirty="0"/>
              <a:t>FINAL MODEL</a:t>
            </a:r>
            <a:endParaRPr dirty="0"/>
          </a:p>
        </p:txBody>
      </p:sp>
      <p:pic>
        <p:nvPicPr>
          <p:cNvPr id="5" name="Picture 4">
            <a:extLst>
              <a:ext uri="{FF2B5EF4-FFF2-40B4-BE49-F238E27FC236}">
                <a16:creationId xmlns:a16="http://schemas.microsoft.com/office/drawing/2014/main" id="{EFCCBDC8-854E-49EC-A488-2A5BBADAD919}"/>
              </a:ext>
            </a:extLst>
          </p:cNvPr>
          <p:cNvPicPr>
            <a:picLocks noChangeAspect="1"/>
          </p:cNvPicPr>
          <p:nvPr/>
        </p:nvPicPr>
        <p:blipFill>
          <a:blip r:embed="rId3"/>
          <a:stretch>
            <a:fillRect/>
          </a:stretch>
        </p:blipFill>
        <p:spPr>
          <a:xfrm>
            <a:off x="2277792" y="1973499"/>
            <a:ext cx="6391275" cy="4000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pPr>
            <a:r>
              <a:rPr lang="en-US" b="1"/>
              <a:t>KEY FINDINGS</a:t>
            </a:r>
            <a:endParaRPr/>
          </a:p>
        </p:txBody>
      </p:sp>
      <p:sp>
        <p:nvSpPr>
          <p:cNvPr id="211" name="Google Shape;211;p24"/>
          <p:cNvSpPr txBox="1">
            <a:spLocks noGrp="1"/>
          </p:cNvSpPr>
          <p:nvPr>
            <p:ph idx="1"/>
          </p:nvPr>
        </p:nvSpPr>
        <p:spPr>
          <a:prstGeom prst="rect">
            <a:avLst/>
          </a:prstGeom>
          <a:noFill/>
          <a:ln>
            <a:noFill/>
          </a:ln>
        </p:spPr>
        <p:txBody>
          <a:bodyPr spcFirstLastPara="1" wrap="square" lIns="91425" tIns="45700" rIns="91425" bIns="45700" anchor="ctr" anchorCtr="0">
            <a:normAutofit fontScale="92500" lnSpcReduction="20000"/>
          </a:bodyPr>
          <a:lstStyle/>
          <a:p>
            <a:pPr algn="just">
              <a:lnSpc>
                <a:spcPct val="150000"/>
              </a:lnSpc>
              <a:spcAft>
                <a:spcPts val="800"/>
              </a:spcAft>
            </a:pPr>
            <a:r>
              <a:rPr lang="en-IN"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Most of the Fake News were associated with US election campaigns with Keywords like Trump, US, Senate etc showing up in the entire dataset.</a:t>
            </a:r>
            <a:endParaRPr lang="en-IN"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Top 10 writers generating highest number of fake news are: </a:t>
            </a:r>
            <a:endParaRPr lang="en-IN"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'admin', '</a:t>
            </a:r>
            <a:r>
              <a:rPr lang="en-IN" sz="1800" dirty="0" err="1">
                <a:solidFill>
                  <a:schemeClr val="tx2"/>
                </a:solidFill>
                <a:effectLst/>
                <a:latin typeface="Arial" panose="020B0604020202020204" pitchFamily="34" charset="0"/>
                <a:ea typeface="Calibri" panose="020F0502020204030204" pitchFamily="34" charset="0"/>
                <a:cs typeface="Times New Roman" panose="02020603050405020304" pitchFamily="18" charset="0"/>
              </a:rPr>
              <a:t>Pakalert</a:t>
            </a:r>
            <a:r>
              <a:rPr lang="en-IN"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 'Eddy Lavine', '</a:t>
            </a:r>
            <a:r>
              <a:rPr lang="en-IN" sz="1800" dirty="0" err="1">
                <a:solidFill>
                  <a:schemeClr val="tx2"/>
                </a:solidFill>
                <a:effectLst/>
                <a:latin typeface="Arial" panose="020B0604020202020204" pitchFamily="34" charset="0"/>
                <a:ea typeface="Calibri" panose="020F0502020204030204" pitchFamily="34" charset="0"/>
                <a:cs typeface="Times New Roman" panose="02020603050405020304" pitchFamily="18" charset="0"/>
              </a:rPr>
              <a:t>Starkman</a:t>
            </a:r>
            <a:r>
              <a:rPr lang="en-IN"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 'Gillian', 'Alex </a:t>
            </a:r>
            <a:r>
              <a:rPr lang="en-IN" sz="1800" dirty="0" err="1">
                <a:solidFill>
                  <a:schemeClr val="tx2"/>
                </a:solidFill>
                <a:effectLst/>
                <a:latin typeface="Arial" panose="020B0604020202020204" pitchFamily="34" charset="0"/>
                <a:ea typeface="Calibri" panose="020F0502020204030204" pitchFamily="34" charset="0"/>
                <a:cs typeface="Times New Roman" panose="02020603050405020304" pitchFamily="18" charset="0"/>
              </a:rPr>
              <a:t>Ansary</a:t>
            </a:r>
            <a:r>
              <a:rPr lang="en-IN"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 'Editor', 'noreply@blogger.com (Alexander Light)', 'Anonymous', 'Dave Hodges'.</a:t>
            </a:r>
            <a:endParaRPr lang="en-IN"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It was a balanced Dataset. All the models trained using </a:t>
            </a:r>
            <a:r>
              <a:rPr lang="en-IN" sz="1800" dirty="0" err="1">
                <a:solidFill>
                  <a:schemeClr val="tx2"/>
                </a:solidFill>
                <a:effectLst/>
                <a:latin typeface="Arial" panose="020B0604020202020204" pitchFamily="34" charset="0"/>
                <a:ea typeface="Calibri" panose="020F0502020204030204" pitchFamily="34" charset="0"/>
                <a:cs typeface="Times New Roman" panose="02020603050405020304" pitchFamily="18" charset="0"/>
              </a:rPr>
              <a:t>Sklearn</a:t>
            </a:r>
            <a:r>
              <a:rPr lang="en-IN"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 performed well with best performance by Random Forest with 97 percent accuracy as well as 97 percent f1 score.</a:t>
            </a:r>
            <a:endParaRPr lang="en-IN"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marL="306000" lvl="0" indent="-200844" algn="l" rtl="0">
              <a:spcBef>
                <a:spcPts val="960"/>
              </a:spcBef>
              <a:spcAft>
                <a:spcPts val="0"/>
              </a:spcAft>
              <a:buSzPts val="1656"/>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5"/>
          <p:cNvSpPr txBox="1"/>
          <p:nvPr/>
        </p:nvSpPr>
        <p:spPr>
          <a:xfrm>
            <a:off x="3877875" y="2872550"/>
            <a:ext cx="4838108" cy="9232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4800" dirty="0">
                <a:latin typeface="Gill Sans"/>
                <a:ea typeface="Gill Sans"/>
                <a:cs typeface="Gill Sans"/>
                <a:sym typeface="Gill Sans"/>
              </a:rPr>
              <a:t>THANK YOU</a:t>
            </a:r>
            <a:endParaRPr sz="4800" dirty="0">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14</TotalTime>
  <Words>457</Words>
  <Application>Microsoft Office PowerPoint</Application>
  <PresentationFormat>Widescreen</PresentationFormat>
  <Paragraphs>31</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Wingdings 3</vt:lpstr>
      <vt:lpstr>Calibri</vt:lpstr>
      <vt:lpstr>Arial</vt:lpstr>
      <vt:lpstr>Times New Roman</vt:lpstr>
      <vt:lpstr>Trebuchet MS</vt:lpstr>
      <vt:lpstr>Gill Sans</vt:lpstr>
      <vt:lpstr>Facet</vt:lpstr>
      <vt:lpstr>Fake News Detection</vt:lpstr>
      <vt:lpstr>INTRODUCTION </vt:lpstr>
      <vt:lpstr>CONCEPTUAL BACKGROUND OF THE DOMAIN PROBLEM </vt:lpstr>
      <vt:lpstr>ANALYTICAL PROBLEM FRAMING </vt:lpstr>
      <vt:lpstr>VISUALIZATION AND DATA INTERPRETATION  </vt:lpstr>
      <vt:lpstr>PowerPoint Presentation</vt:lpstr>
      <vt:lpstr>WORDCLOUDS - REAL NEWS vs FAKE NEWS </vt:lpstr>
      <vt:lpstr>VARIOUS MODELS USED FOR VALIDATION </vt:lpstr>
      <vt:lpstr>FINAL MODEL</vt:lpstr>
      <vt:lpstr>KEY FINDINGS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News Detection</dc:title>
  <dc:creator>Nipam Nayan</dc:creator>
  <cp:lastModifiedBy>Nipam Nayan</cp:lastModifiedBy>
  <cp:revision>3</cp:revision>
  <dcterms:modified xsi:type="dcterms:W3CDTF">2021-06-25T03:44:19Z</dcterms:modified>
</cp:coreProperties>
</file>